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3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12191695" cy="27432"/>
          </a:xfrm>
          <a:prstGeom prst="RECTANGLE">
            <a:avLst/>
          </a:prstGeom>
          <a:solidFill>
            <a:srgbClr val="EB6C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Leibniz-KERT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B6C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DKWS 独立知识工程服务端 · C′ 混合架构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8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知识架构 · 功能布局 · 技术栈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Overview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743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DKWS 知识架构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471214" y="265622"/>
            <a:ext cx="9249268" cy="610195"/>
          </a:xfrm>
          <a:prstGeom prst="ROUNDED_RECTANGLE">
            <a:avLst>
              <a:gd name="adj" fmla="val 8991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5848" y="265622"/>
            <a:ext cx="9249268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CONSUMERS</a:t>
            </a:r>
            <a:endParaRPr lang="en-US" sz="500" dirty="0"/>
          </a:p>
        </p:txBody>
      </p:sp>
      <p:sp>
        <p:nvSpPr>
          <p:cNvPr id="5" name="Shape 3"/>
          <p:cNvSpPr/>
          <p:nvPr/>
        </p:nvSpPr>
        <p:spPr>
          <a:xfrm>
            <a:off x="1599676" y="426200"/>
            <a:ext cx="1364909" cy="353271"/>
          </a:xfrm>
          <a:prstGeom prst="ROUNDED_RECTANGLE">
            <a:avLst>
              <a:gd name="adj" fmla="val 10354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99676" y="426200"/>
            <a:ext cx="1364909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GITS 工作台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599676" y="618893"/>
            <a:ext cx="1364909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 v1.3</a:t>
            </a:r>
            <a:endParaRPr lang="en-US" sz="550" dirty="0"/>
          </a:p>
        </p:txBody>
      </p:sp>
      <p:sp>
        <p:nvSpPr>
          <p:cNvPr id="8" name="Shape 6"/>
          <p:cNvSpPr/>
          <p:nvPr/>
        </p:nvSpPr>
        <p:spPr>
          <a:xfrm>
            <a:off x="3141220" y="426200"/>
            <a:ext cx="1124043" cy="353271"/>
          </a:xfrm>
          <a:prstGeom prst="ROUNDED_RECTANGLE">
            <a:avLst>
              <a:gd name="adj" fmla="val 10354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41220" y="426200"/>
            <a:ext cx="112404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DSH 知识面板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41899" y="426200"/>
            <a:ext cx="963465" cy="353271"/>
          </a:xfrm>
          <a:prstGeom prst="ROUNDED_RECTANGLE">
            <a:avLst>
              <a:gd name="adj" fmla="val 10354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1899" y="426200"/>
            <a:ext cx="963465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 / 评测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471214" y="1036394"/>
            <a:ext cx="9249268" cy="706541"/>
          </a:xfrm>
          <a:prstGeom prst="ROUNDED_RECTANGLE">
            <a:avLst>
              <a:gd name="adj" fmla="val 7765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5848" y="1036394"/>
            <a:ext cx="9249268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 SERVICE</a:t>
            </a:r>
            <a:endParaRPr lang="en-US" sz="500" dirty="0"/>
          </a:p>
        </p:txBody>
      </p:sp>
      <p:sp>
        <p:nvSpPr>
          <p:cNvPr id="14" name="Shape 12"/>
          <p:cNvSpPr/>
          <p:nvPr/>
        </p:nvSpPr>
        <p:spPr>
          <a:xfrm>
            <a:off x="1599676" y="1196972"/>
            <a:ext cx="1525487" cy="449617"/>
          </a:xfrm>
          <a:prstGeom prst="ROUNDED_RECTANGLE">
            <a:avLst>
              <a:gd name="adj" fmla="val 8135"/>
            </a:avLst>
          </a:prstGeom>
          <a:solidFill>
            <a:srgbClr val="FDF0E8"/>
          </a:solidFill>
          <a:ln w="8890">
            <a:solidFill>
              <a:srgbClr val="EB6C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99676" y="1196972"/>
            <a:ext cx="1525487" cy="24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SkillExecutionService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99676" y="1437838"/>
            <a:ext cx="1525487" cy="208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幂等 · assemblyTrace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3301798" y="1196972"/>
            <a:ext cx="1686064" cy="449617"/>
          </a:xfrm>
          <a:prstGeom prst="ROUNDED_RECTANGLE">
            <a:avLst>
              <a:gd name="adj" fmla="val 8135"/>
            </a:avLst>
          </a:prstGeom>
          <a:solidFill>
            <a:srgbClr val="FDF0E8"/>
          </a:solidFill>
          <a:ln w="8890">
            <a:solidFill>
              <a:srgbClr val="EB6C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01798" y="1196972"/>
            <a:ext cx="1686064" cy="24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CustomerKnowledgeProvider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01798" y="1437838"/>
            <a:ext cx="1686064" cy="208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ki_map · entity · supply_chain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5164498" y="1196972"/>
            <a:ext cx="1364909" cy="449617"/>
          </a:xfrm>
          <a:prstGeom prst="ROUNDED_RECTANGLE">
            <a:avLst>
              <a:gd name="adj" fmla="val 8135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64498" y="1196972"/>
            <a:ext cx="1364909" cy="24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KnowledgeService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164498" y="1437838"/>
            <a:ext cx="1364909" cy="208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· graph · rule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6706042" y="1196972"/>
            <a:ext cx="1124043" cy="449617"/>
          </a:xfrm>
          <a:prstGeom prst="ROUNDED_RECTANGLE">
            <a:avLst>
              <a:gd name="adj" fmla="val 8135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6042" y="1196972"/>
            <a:ext cx="1124043" cy="24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适配器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006721" y="1196972"/>
            <a:ext cx="1124043" cy="449617"/>
          </a:xfrm>
          <a:prstGeom prst="ROUNDED_RECTANGLE">
            <a:avLst>
              <a:gd name="adj" fmla="val 8135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6721" y="1196972"/>
            <a:ext cx="1124043" cy="24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Kùzu 图后端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471214" y="1935629"/>
            <a:ext cx="4496172" cy="2248086"/>
          </a:xfrm>
          <a:prstGeom prst="ROUNDED_RECTANGLE">
            <a:avLst>
              <a:gd name="adj" fmla="val 2440"/>
            </a:avLst>
          </a:prstGeom>
          <a:solidFill>
            <a:srgbClr val="FDF5EF"/>
          </a:solidFill>
          <a:ln w="8890">
            <a:solidFill>
              <a:srgbClr val="EB6C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19300" y="1935629"/>
            <a:ext cx="4496172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 MAP 知识地图</a:t>
            </a:r>
            <a:endParaRPr lang="en-US" sz="500" dirty="0"/>
          </a:p>
        </p:txBody>
      </p:sp>
      <p:sp>
        <p:nvSpPr>
          <p:cNvPr id="29" name="Shape 27"/>
          <p:cNvSpPr/>
          <p:nvPr/>
        </p:nvSpPr>
        <p:spPr>
          <a:xfrm>
            <a:off x="1567560" y="2096206"/>
            <a:ext cx="4303479" cy="224809"/>
          </a:xfrm>
          <a:prstGeom prst="ROUNDED_RECTANGLE">
            <a:avLst>
              <a:gd name="adj" fmla="val 16270"/>
            </a:avLst>
          </a:prstGeom>
          <a:solidFill>
            <a:srgbClr val="FDF0E8"/>
          </a:solidFill>
          <a:ln w="5080">
            <a:solidFill>
              <a:srgbClr val="EB6C3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567560" y="2096206"/>
            <a:ext cx="4303479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知识地图 = 场景 × 任务 × KI 条目 · 按 skillId 路由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567560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67560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KM-OUTREACH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67560" y="257793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外联脚本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1567560" y="272245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KI-009/FRONT-004/006</a:t>
            </a:r>
            <a:endParaRPr lang="en-US" sz="500" dirty="0"/>
          </a:p>
        </p:txBody>
      </p:sp>
      <p:sp>
        <p:nvSpPr>
          <p:cNvPr id="35" name="Shape 33"/>
          <p:cNvSpPr/>
          <p:nvPr/>
        </p:nvSpPr>
        <p:spPr>
          <a:xfrm>
            <a:off x="3028816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28816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KM-MEETING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028816" y="257793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会面脚本</a:t>
            </a:r>
            <a:endParaRPr lang="en-US" sz="550" dirty="0"/>
          </a:p>
        </p:txBody>
      </p:sp>
      <p:sp>
        <p:nvSpPr>
          <p:cNvPr id="38" name="Text 36"/>
          <p:cNvSpPr/>
          <p:nvPr/>
        </p:nvSpPr>
        <p:spPr>
          <a:xfrm>
            <a:off x="3028816" y="272245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KI-009/004/005/006</a:t>
            </a:r>
            <a:endParaRPr lang="en-US" sz="500" dirty="0"/>
          </a:p>
        </p:txBody>
      </p:sp>
      <p:sp>
        <p:nvSpPr>
          <p:cNvPr id="39" name="Shape 37"/>
          <p:cNvSpPr/>
          <p:nvPr/>
        </p:nvSpPr>
        <p:spPr>
          <a:xfrm>
            <a:off x="4490072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90072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KM-PREVISIT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490072" y="257793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访前报告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4490072" y="2722459"/>
            <a:ext cx="1348852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KI-FRONT-001~007</a:t>
            </a:r>
            <a:endParaRPr lang="en-US" sz="500" dirty="0"/>
          </a:p>
        </p:txBody>
      </p:sp>
      <p:sp>
        <p:nvSpPr>
          <p:cNvPr id="43" name="Shape 41"/>
          <p:cNvSpPr/>
          <p:nvPr/>
        </p:nvSpPr>
        <p:spPr>
          <a:xfrm>
            <a:off x="6160079" y="1935629"/>
            <a:ext cx="4560403" cy="2248086"/>
          </a:xfrm>
          <a:prstGeom prst="ROUNDED_RECTANGLE">
            <a:avLst>
              <a:gd name="adj" fmla="val 2440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40280" y="1935629"/>
            <a:ext cx="4560403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 CATALOG 知识目录</a:t>
            </a:r>
            <a:endParaRPr lang="en-US" sz="500" dirty="0"/>
          </a:p>
        </p:txBody>
      </p:sp>
      <p:sp>
        <p:nvSpPr>
          <p:cNvPr id="45" name="Shape 43"/>
          <p:cNvSpPr/>
          <p:nvPr/>
        </p:nvSpPr>
        <p:spPr>
          <a:xfrm>
            <a:off x="6256425" y="2096206"/>
            <a:ext cx="4367710" cy="224809"/>
          </a:xfrm>
          <a:prstGeom prst="ROUNDED_RECTANGLE">
            <a:avLst>
              <a:gd name="adj" fmla="val 16270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6256425" y="2096206"/>
            <a:ext cx="4367710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知识目录 = 可检索索引 · /v1/catalog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256425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56425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知识条目 KI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33739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3739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知识要素 KE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211052" y="2417361"/>
            <a:ext cx="1348852" cy="1670007"/>
          </a:xfrm>
          <a:prstGeom prst="ROUNDED_RECTANGLE">
            <a:avLst>
              <a:gd name="adj" fmla="val 2712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11052" y="2417361"/>
            <a:ext cx="1348852" cy="160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RUL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471214" y="4376408"/>
            <a:ext cx="9249268" cy="963465"/>
          </a:xfrm>
          <a:prstGeom prst="ROUNDED_RECTANGLE">
            <a:avLst>
              <a:gd name="adj" fmla="val 5694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95848" y="4376408"/>
            <a:ext cx="9249268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WORKSPACE 工作空间层</a:t>
            </a:r>
            <a:endParaRPr lang="en-US" sz="500" dirty="0"/>
          </a:p>
        </p:txBody>
      </p:sp>
      <p:sp>
        <p:nvSpPr>
          <p:cNvPr id="55" name="Shape 53"/>
          <p:cNvSpPr/>
          <p:nvPr/>
        </p:nvSpPr>
        <p:spPr>
          <a:xfrm>
            <a:off x="1599676" y="4553043"/>
            <a:ext cx="1043754" cy="674426"/>
          </a:xfrm>
          <a:prstGeom prst="ROUNDED_RECTANGLE">
            <a:avLst>
              <a:gd name="adj" fmla="val 5423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599676" y="4553043"/>
            <a:ext cx="1043754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01_raw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2787950" y="4553043"/>
            <a:ext cx="1043754" cy="674426"/>
          </a:xfrm>
          <a:prstGeom prst="ROUNDED_RECTANGLE">
            <a:avLst>
              <a:gd name="adj" fmla="val 5423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87950" y="4553043"/>
            <a:ext cx="1043754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02_work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3976224" y="4553043"/>
            <a:ext cx="1204332" cy="674426"/>
          </a:xfrm>
          <a:prstGeom prst="ROUNDED_RECTANGLE">
            <a:avLst>
              <a:gd name="adj" fmla="val 5423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76224" y="4553043"/>
            <a:ext cx="1204332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03_core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5325075" y="4553043"/>
            <a:ext cx="1043754" cy="674426"/>
          </a:xfrm>
          <a:prstGeom prst="ROUNDED_RECTANGLE">
            <a:avLst>
              <a:gd name="adj" fmla="val 5423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25075" y="4553043"/>
            <a:ext cx="1043754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04_serve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6513349" y="4553043"/>
            <a:ext cx="1043754" cy="674426"/>
          </a:xfrm>
          <a:prstGeom prst="ROUNDED_RECTANGLE">
            <a:avLst>
              <a:gd name="adj" fmla="val 5423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13349" y="4553043"/>
            <a:ext cx="1043754" cy="22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90_control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471214" y="5500451"/>
            <a:ext cx="9249268" cy="449617"/>
          </a:xfrm>
          <a:prstGeom prst="ROUNDED_RECTANGLE">
            <a:avLst>
              <a:gd name="adj" fmla="val 12202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95848" y="5500451"/>
            <a:ext cx="9249268" cy="80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 LIFECYCLE 生命周期</a:t>
            </a:r>
            <a:endParaRPr lang="en-US" sz="500" dirty="0"/>
          </a:p>
        </p:txBody>
      </p:sp>
      <p:sp>
        <p:nvSpPr>
          <p:cNvPr id="67" name="Shape 65"/>
          <p:cNvSpPr/>
          <p:nvPr/>
        </p:nvSpPr>
        <p:spPr>
          <a:xfrm>
            <a:off x="1599676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599676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3044874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044874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4490072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490072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extract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5935270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5270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7380468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80468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8825666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25666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10270864" y="5661028"/>
            <a:ext cx="481733" cy="192693"/>
          </a:xfrm>
          <a:prstGeom prst="ROUNDED_RECTANGLE">
            <a:avLst>
              <a:gd name="adj" fmla="val 18981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70864" y="5661028"/>
            <a:ext cx="481733" cy="19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2081409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526607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4971805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417003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7862201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9307399" y="5757375"/>
            <a:ext cx="963465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2282131" y="779470"/>
            <a:ext cx="0" cy="417502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3703242" y="779470"/>
            <a:ext cx="0" cy="417502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2362419" y="1646589"/>
            <a:ext cx="0" cy="176635"/>
          </a:xfrm>
          <a:prstGeom prst="LINE">
            <a:avLst/>
          </a:prstGeom>
          <a:noFill/>
          <a:ln w="1016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2362419" y="1823224"/>
            <a:ext cx="-120433" cy="112404"/>
          </a:xfrm>
          <a:prstGeom prst="LINE">
            <a:avLst/>
          </a:prstGeom>
          <a:noFill/>
          <a:ln w="1016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4144830" y="1646589"/>
            <a:ext cx="0" cy="176635"/>
          </a:xfrm>
          <a:prstGeom prst="LINE">
            <a:avLst/>
          </a:prstGeom>
          <a:noFill/>
          <a:ln w="1016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4144830" y="1823224"/>
            <a:ext cx="-441588" cy="112404"/>
          </a:xfrm>
          <a:prstGeom prst="LINE">
            <a:avLst/>
          </a:prstGeom>
          <a:noFill/>
          <a:ln w="1016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5846952" y="1646589"/>
            <a:ext cx="0" cy="176635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5846952" y="1823224"/>
            <a:ext cx="1083899" cy="112404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7268064" y="1646589"/>
            <a:ext cx="0" cy="176635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7268064" y="1823224"/>
            <a:ext cx="1140101" cy="112404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241986" y="4183715"/>
            <a:ext cx="0" cy="96347"/>
          </a:xfrm>
          <a:prstGeom prst="LINE">
            <a:avLst/>
          </a:prstGeom>
          <a:noFill/>
          <a:ln w="7620">
            <a:solidFill>
              <a:srgbClr val="EB6C36"/>
            </a:solidFill>
            <a:prstDash val="dash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41986" y="4280061"/>
            <a:ext cx="2336404" cy="96347"/>
          </a:xfrm>
          <a:prstGeom prst="LINE">
            <a:avLst/>
          </a:prstGeom>
          <a:noFill/>
          <a:ln w="7620">
            <a:solidFill>
              <a:srgbClr val="EB6C36"/>
            </a:solidFill>
            <a:prstDash val="dash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3703242" y="4183715"/>
            <a:ext cx="0" cy="96347"/>
          </a:xfrm>
          <a:prstGeom prst="LINE">
            <a:avLst/>
          </a:prstGeom>
          <a:noFill/>
          <a:ln w="7620">
            <a:solidFill>
              <a:srgbClr val="EB6C36"/>
            </a:solidFill>
            <a:prstDash val="dash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3703242" y="4280061"/>
            <a:ext cx="875148" cy="96347"/>
          </a:xfrm>
          <a:prstGeom prst="LINE">
            <a:avLst/>
          </a:prstGeom>
          <a:noFill/>
          <a:ln w="7620">
            <a:solidFill>
              <a:srgbClr val="EB6C36"/>
            </a:solidFill>
            <a:prstDash val="dash"/>
            <a:tailEnd type="triangle"/>
          </a:ln>
        </p:spPr>
      </p:sp>
      <p:sp>
        <p:nvSpPr>
          <p:cNvPr id="101" name="Shape 99"/>
          <p:cNvSpPr/>
          <p:nvPr/>
        </p:nvSpPr>
        <p:spPr>
          <a:xfrm>
            <a:off x="6930851" y="4183715"/>
            <a:ext cx="0" cy="96347"/>
          </a:xfrm>
          <a:prstGeom prst="LINE">
            <a:avLst/>
          </a:prstGeom>
          <a:noFill/>
          <a:ln w="635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6930851" y="4280061"/>
            <a:ext cx="-1083899" cy="96347"/>
          </a:xfrm>
          <a:prstGeom prst="LINE">
            <a:avLst/>
          </a:prstGeom>
          <a:noFill/>
          <a:ln w="635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8408164" y="4183715"/>
            <a:ext cx="0" cy="96347"/>
          </a:xfrm>
          <a:prstGeom prst="LINE">
            <a:avLst/>
          </a:prstGeom>
          <a:noFill/>
          <a:ln w="635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8408164" y="4280061"/>
            <a:ext cx="-2561212" cy="96347"/>
          </a:xfrm>
          <a:prstGeom prst="LINE">
            <a:avLst/>
          </a:prstGeom>
          <a:noFill/>
          <a:ln w="635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05" name="Shape 103"/>
          <p:cNvSpPr/>
          <p:nvPr/>
        </p:nvSpPr>
        <p:spPr>
          <a:xfrm>
            <a:off x="1599676" y="6407714"/>
            <a:ext cx="224809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106" name="Text 104"/>
          <p:cNvSpPr/>
          <p:nvPr/>
        </p:nvSpPr>
        <p:spPr>
          <a:xfrm>
            <a:off x="1888716" y="6359540"/>
            <a:ext cx="401444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主数据流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2402564" y="6407714"/>
            <a:ext cx="224809" cy="0"/>
          </a:xfrm>
          <a:prstGeom prst="LINE">
            <a:avLst/>
          </a:prstGeom>
          <a:noFill/>
          <a:ln w="762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08" name="Text 106"/>
          <p:cNvSpPr/>
          <p:nvPr/>
        </p:nvSpPr>
        <p:spPr>
          <a:xfrm>
            <a:off x="2691603" y="6359540"/>
            <a:ext cx="481733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数据源映射</a:t>
            </a:r>
            <a:endParaRPr lang="en-US" sz="550" dirty="0"/>
          </a:p>
        </p:txBody>
      </p:sp>
      <p:sp>
        <p:nvSpPr>
          <p:cNvPr id="109" name="Shape 107"/>
          <p:cNvSpPr/>
          <p:nvPr/>
        </p:nvSpPr>
        <p:spPr>
          <a:xfrm>
            <a:off x="3366029" y="6407714"/>
            <a:ext cx="224809" cy="0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110" name="Text 108"/>
          <p:cNvSpPr/>
          <p:nvPr/>
        </p:nvSpPr>
        <p:spPr>
          <a:xfrm>
            <a:off x="3655069" y="6359540"/>
            <a:ext cx="401444" cy="11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请求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471214" y="6560262"/>
            <a:ext cx="9249268" cy="128462"/>
          </a:xfrm>
          <a:prstGeom prst="ROUNDED_RECTANGLE">
            <a:avLst>
              <a:gd name="adj" fmla="val 28472"/>
            </a:avLst>
          </a:prstGeom>
          <a:solidFill>
            <a:srgbClr val="FDF0E8"/>
          </a:solidFill>
          <a:ln w="3810">
            <a:solidFill>
              <a:srgbClr val="EB6C3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471214" y="6560262"/>
            <a:ext cx="9249268" cy="128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知识地图→用什么  知识目录→怎么找  知识资产→是什么  工作空间→放哪里  生命周期→怎么流转</a:t>
            </a:r>
            <a:endParaRPr lang="en-US" sz="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" y="18288"/>
            <a:ext cx="1179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Leibniz-KERT 功能布局逻辑架构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670152" y="192710"/>
            <a:ext cx="8851392" cy="497891"/>
          </a:xfrm>
          <a:prstGeom prst="ROUNDED_RECTANGLE">
            <a:avLst>
              <a:gd name="adj" fmla="val 11019"/>
            </a:avLst>
          </a:prstGeom>
          <a:solidFill>
            <a:srgbClr val="EAF0FA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5848" y="192710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2E5A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外部系统</a:t>
            </a:r>
            <a:endParaRPr lang="en-US" sz="500" dirty="0"/>
          </a:p>
        </p:txBody>
      </p:sp>
      <p:sp>
        <p:nvSpPr>
          <p:cNvPr id="5" name="Shape 3"/>
          <p:cNvSpPr/>
          <p:nvPr/>
        </p:nvSpPr>
        <p:spPr>
          <a:xfrm>
            <a:off x="1753133" y="317183"/>
            <a:ext cx="898970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53133" y="317183"/>
            <a:ext cx="898970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GITS 工作台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35085" y="317183"/>
            <a:ext cx="829818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5085" y="317183"/>
            <a:ext cx="829818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DSH 面板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647885" y="317183"/>
            <a:ext cx="691515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7885" y="317183"/>
            <a:ext cx="691515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CLI/CI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422381" y="317183"/>
            <a:ext cx="829818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22381" y="317183"/>
            <a:ext cx="829818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CRM/风控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335181" y="317183"/>
            <a:ext cx="829818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35181" y="317183"/>
            <a:ext cx="829818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监管/行情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247981" y="317183"/>
            <a:ext cx="968121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7981" y="317183"/>
            <a:ext cx="968121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7299084" y="317183"/>
            <a:ext cx="829818" cy="290436"/>
          </a:xfrm>
          <a:prstGeom prst="ROUNDED_RECTANGLE">
            <a:avLst>
              <a:gd name="adj" fmla="val 12593"/>
            </a:avLst>
          </a:prstGeom>
          <a:solidFill>
            <a:srgbClr val="EAF0FA"/>
          </a:solidFill>
          <a:ln w="6350">
            <a:solidFill>
              <a:srgbClr val="2E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9084" y="317183"/>
            <a:ext cx="829818" cy="29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670152" y="801243"/>
            <a:ext cx="8851392" cy="414909"/>
          </a:xfrm>
          <a:prstGeom prst="ROUNDED_RECTANGLE">
            <a:avLst>
              <a:gd name="adj" fmla="val 13223"/>
            </a:avLst>
          </a:prstGeom>
          <a:solidFill>
            <a:srgbClr val="E8F2ED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95848" y="801243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3D8B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网关 · FastAPI</a:t>
            </a:r>
            <a:endParaRPr lang="en-US" sz="500" dirty="0"/>
          </a:p>
        </p:txBody>
      </p:sp>
      <p:sp>
        <p:nvSpPr>
          <p:cNvPr id="21" name="Shape 19"/>
          <p:cNvSpPr/>
          <p:nvPr/>
        </p:nvSpPr>
        <p:spPr>
          <a:xfrm>
            <a:off x="1753133" y="925716"/>
            <a:ext cx="553212" cy="221285"/>
          </a:xfrm>
          <a:prstGeom prst="ROUNDED_RECTANGLE">
            <a:avLst>
              <a:gd name="adj" fmla="val 16529"/>
            </a:avLst>
          </a:prstGeom>
          <a:solidFill>
            <a:srgbClr val="E8F2ED"/>
          </a:solidFill>
          <a:ln w="6350">
            <a:solidFill>
              <a:srgbClr val="3D8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53133" y="925716"/>
            <a:ext cx="5532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361667" y="925716"/>
            <a:ext cx="553212" cy="221285"/>
          </a:xfrm>
          <a:prstGeom prst="ROUNDED_RECTANGLE">
            <a:avLst>
              <a:gd name="adj" fmla="val 16529"/>
            </a:avLst>
          </a:prstGeom>
          <a:solidFill>
            <a:srgbClr val="E8F2ED"/>
          </a:solidFill>
          <a:ln w="6350">
            <a:solidFill>
              <a:srgbClr val="3D8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61667" y="925716"/>
            <a:ext cx="5532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970200" y="925716"/>
            <a:ext cx="553212" cy="221285"/>
          </a:xfrm>
          <a:prstGeom prst="ROUNDED_RECTANGLE">
            <a:avLst>
              <a:gd name="adj" fmla="val 16529"/>
            </a:avLst>
          </a:prstGeom>
          <a:solidFill>
            <a:srgbClr val="E8F2ED"/>
          </a:solidFill>
          <a:ln w="6350">
            <a:solidFill>
              <a:srgbClr val="3D8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0200" y="925716"/>
            <a:ext cx="5532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大小限制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578733" y="925716"/>
            <a:ext cx="553212" cy="221285"/>
          </a:xfrm>
          <a:prstGeom prst="ROUNDED_RECTANGLE">
            <a:avLst>
              <a:gd name="adj" fmla="val 16529"/>
            </a:avLst>
          </a:prstGeom>
          <a:solidFill>
            <a:srgbClr val="E8F2ED"/>
          </a:solidFill>
          <a:ln w="6350">
            <a:solidFill>
              <a:srgbClr val="3D8B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78733" y="925716"/>
            <a:ext cx="5532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脱敏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187266" y="925716"/>
            <a:ext cx="553212" cy="221285"/>
          </a:xfrm>
          <a:prstGeom prst="ROUNDED_RECTANGLE">
            <a:avLst>
              <a:gd name="adj" fmla="val 16529"/>
            </a:avLst>
          </a:prstGeom>
          <a:solidFill>
            <a:srgbClr val="E8F2ED"/>
          </a:solidFill>
          <a:ln w="6350">
            <a:solidFill>
              <a:srgbClr val="3D8B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87266" y="925716"/>
            <a:ext cx="5532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链路追踪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920272" y="925716"/>
            <a:ext cx="5462969" cy="221285"/>
          </a:xfrm>
          <a:prstGeom prst="ROUNDED_RECTANGLE">
            <a:avLst>
              <a:gd name="adj" fmla="val 16529"/>
            </a:avLst>
          </a:prstGeom>
          <a:solidFill>
            <a:srgbClr val="F0F1F3"/>
          </a:solidFill>
          <a:ln w="3810">
            <a:solidFill>
              <a:srgbClr val="4F5D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20272" y="925716"/>
            <a:ext cx="5462969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/v1/health  /v1/skills/execute  /v1/search  /v1/graph/query  /v1/catalog ...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670152" y="1326794"/>
            <a:ext cx="8851392" cy="1659636"/>
          </a:xfrm>
          <a:prstGeom prst="ROUNDED_RECTANGLE">
            <a:avLst>
              <a:gd name="adj" fmla="val 3306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5848" y="1326794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应用服务层</a:t>
            </a:r>
            <a:endParaRPr lang="en-US" sz="500" dirty="0"/>
          </a:p>
        </p:txBody>
      </p:sp>
      <p:sp>
        <p:nvSpPr>
          <p:cNvPr id="35" name="Shape 33"/>
          <p:cNvSpPr/>
          <p:nvPr/>
        </p:nvSpPr>
        <p:spPr>
          <a:xfrm>
            <a:off x="1753133" y="1465097"/>
            <a:ext cx="2074545" cy="1438351"/>
          </a:xfrm>
          <a:prstGeom prst="ROUNDED_RECTANGLE">
            <a:avLst>
              <a:gd name="adj" fmla="val 2543"/>
            </a:avLst>
          </a:prstGeom>
          <a:solidFill>
            <a:srgbClr val="FDF0E8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90406" y="1465097"/>
            <a:ext cx="2074545" cy="82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B6C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技能执行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822285" y="1603400"/>
            <a:ext cx="1922412" cy="221285"/>
          </a:xfrm>
          <a:prstGeom prst="ROUNDED_RECTANGLE">
            <a:avLst>
              <a:gd name="adj" fmla="val 16529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2285" y="1603400"/>
            <a:ext cx="1922412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技能执行服务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22285" y="1880006"/>
            <a:ext cx="926630" cy="207455"/>
          </a:xfrm>
          <a:prstGeom prst="ROUNDED_RECTANGLE">
            <a:avLst>
              <a:gd name="adj" fmla="val 17631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22285" y="1880006"/>
            <a:ext cx="926630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SP-20 建议书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818067" y="1880006"/>
            <a:ext cx="926630" cy="207455"/>
          </a:xfrm>
          <a:prstGeom prst="ROUNDED_RECTANGLE">
            <a:avLst>
              <a:gd name="adj" fmla="val 17631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18067" y="1880006"/>
            <a:ext cx="926630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SP-21 交互记忆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822285" y="2142782"/>
            <a:ext cx="1922412" cy="207455"/>
          </a:xfrm>
          <a:prstGeom prst="ROUNDED_RECTANGLE">
            <a:avLst>
              <a:gd name="adj" fmla="val 17631"/>
            </a:avLst>
          </a:prstGeom>
          <a:solidFill>
            <a:srgbClr val="FDF0E8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2285" y="2142782"/>
            <a:ext cx="1922412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客户知识提供者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822285" y="2405558"/>
            <a:ext cx="1922412" cy="428739"/>
          </a:xfrm>
          <a:prstGeom prst="ROUNDED_RECTANGLE">
            <a:avLst>
              <a:gd name="adj" fmla="val 8531"/>
            </a:avLst>
          </a:prstGeom>
          <a:solidFill>
            <a:srgbClr val="F0F1F3"/>
          </a:solidFill>
          <a:ln w="3810">
            <a:solidFill>
              <a:srgbClr val="4F5D7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22285" y="2405558"/>
            <a:ext cx="1922412" cy="42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· activation-contract</a:t>
            </a:r>
            <a:endParaRPr lang="en-US" sz="500" dirty="0"/>
          </a:p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知识地图 · 任务 · 规则 · KI</a:t>
            </a:r>
            <a:endParaRPr lang="en-US" sz="500" dirty="0"/>
          </a:p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assemblyTrace</a:t>
            </a:r>
            <a:endParaRPr lang="en-US" sz="500" dirty="0"/>
          </a:p>
        </p:txBody>
      </p:sp>
      <p:sp>
        <p:nvSpPr>
          <p:cNvPr id="47" name="Shape 45"/>
          <p:cNvSpPr/>
          <p:nvPr/>
        </p:nvSpPr>
        <p:spPr>
          <a:xfrm>
            <a:off x="3938321" y="1465097"/>
            <a:ext cx="2904363" cy="1438351"/>
          </a:xfrm>
          <a:prstGeom prst="ROUNDED_RECTANGLE">
            <a:avLst>
              <a:gd name="adj" fmla="val 2543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90502" y="1465097"/>
            <a:ext cx="2904363" cy="82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知识工程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4007472" y="1603400"/>
            <a:ext cx="594703" cy="221285"/>
          </a:xfrm>
          <a:prstGeom prst="ROUNDED_RECTANGLE">
            <a:avLst>
              <a:gd name="adj" fmla="val 16529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07472" y="1603400"/>
            <a:ext cx="594703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接入器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4671327" y="1603400"/>
            <a:ext cx="594703" cy="221285"/>
          </a:xfrm>
          <a:prstGeom prst="ROUNDED_RECTANGLE">
            <a:avLst>
              <a:gd name="adj" fmla="val 16529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71327" y="1603400"/>
            <a:ext cx="594703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提取器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335181" y="1603400"/>
            <a:ext cx="594703" cy="221285"/>
          </a:xfrm>
          <a:prstGeom prst="ROUNDED_RECTANGLE">
            <a:avLst>
              <a:gd name="adj" fmla="val 16529"/>
            </a:avLst>
          </a:prstGeom>
          <a:solidFill>
            <a:srgbClr val="F0F1F3"/>
          </a:solidFill>
          <a:ln w="6350">
            <a:solidFill>
              <a:srgbClr val="7A83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35181" y="1603400"/>
            <a:ext cx="594703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999036" y="1603400"/>
            <a:ext cx="594703" cy="221285"/>
          </a:xfrm>
          <a:prstGeom prst="ROUNDED_RECTANGLE">
            <a:avLst>
              <a:gd name="adj" fmla="val 16529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99036" y="1603400"/>
            <a:ext cx="594703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发布器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602175" y="1714043"/>
            <a:ext cx="69152" cy="0"/>
          </a:xfrm>
          <a:prstGeom prst="LINE">
            <a:avLst/>
          </a:prstGeom>
          <a:noFill/>
          <a:ln w="635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266030" y="1714043"/>
            <a:ext cx="69151" cy="0"/>
          </a:xfrm>
          <a:prstGeom prst="LINE">
            <a:avLst/>
          </a:prstGeom>
          <a:noFill/>
          <a:ln w="635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5929884" y="1714043"/>
            <a:ext cx="69151" cy="0"/>
          </a:xfrm>
          <a:prstGeom prst="LINE">
            <a:avLst/>
          </a:prstGeom>
          <a:noFill/>
          <a:ln w="635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007472" y="1880006"/>
            <a:ext cx="1383030" cy="207455"/>
          </a:xfrm>
          <a:prstGeom prst="ROUNDED_RECTANGLE">
            <a:avLst>
              <a:gd name="adj" fmla="val 17631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007472" y="1880006"/>
            <a:ext cx="1383030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知识服务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5459654" y="1880006"/>
            <a:ext cx="1286218" cy="207455"/>
          </a:xfrm>
          <a:prstGeom prst="ROUNDED_RECTANGLE">
            <a:avLst>
              <a:gd name="adj" fmla="val 1763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59654" y="1880006"/>
            <a:ext cx="1286218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投影构建器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007472" y="2142782"/>
            <a:ext cx="1383030" cy="207455"/>
          </a:xfrm>
          <a:prstGeom prst="ROUNDED_RECTANGLE">
            <a:avLst>
              <a:gd name="adj" fmla="val 1763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007472" y="2142782"/>
            <a:ext cx="1383030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校验服务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59654" y="2142782"/>
            <a:ext cx="1286218" cy="207455"/>
          </a:xfrm>
          <a:prstGeom prst="ROUNDED_RECTANGLE">
            <a:avLst>
              <a:gd name="adj" fmla="val 1763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59654" y="2142782"/>
            <a:ext cx="1286218" cy="207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回滚服务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007472" y="2419388"/>
            <a:ext cx="2738399" cy="304267"/>
          </a:xfrm>
          <a:prstGeom prst="ROUNDED_RECTANGLE">
            <a:avLst>
              <a:gd name="adj" fmla="val 12021"/>
            </a:avLst>
          </a:prstGeom>
          <a:solidFill>
            <a:srgbClr val="E8F2ED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7472" y="2419388"/>
            <a:ext cx="2738399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B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门禁体系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007472" y="2571521"/>
            <a:ext cx="2738399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G0接入·G1解析·G2候选·G3发布·G4投影·G5验收</a:t>
            </a:r>
            <a:endParaRPr lang="en-US" sz="500" dirty="0"/>
          </a:p>
        </p:txBody>
      </p:sp>
      <p:sp>
        <p:nvSpPr>
          <p:cNvPr id="71" name="Shape 69"/>
          <p:cNvSpPr/>
          <p:nvPr/>
        </p:nvSpPr>
        <p:spPr>
          <a:xfrm>
            <a:off x="6953326" y="1465097"/>
            <a:ext cx="3485236" cy="1438351"/>
          </a:xfrm>
          <a:prstGeom prst="ROUNDED_RECTANGLE">
            <a:avLst>
              <a:gd name="adj" fmla="val 2543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695944" y="1465097"/>
            <a:ext cx="3485236" cy="82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运行控制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7022478" y="1603400"/>
            <a:ext cx="1659636" cy="304267"/>
          </a:xfrm>
          <a:prstGeom prst="ROUNDED_RECTANGLE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22478" y="1603400"/>
            <a:ext cx="1659636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作业控制器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022478" y="1755534"/>
            <a:ext cx="1659636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状态机·幂等·SQLite</a:t>
            </a:r>
            <a:endParaRPr lang="en-US" sz="500" dirty="0"/>
          </a:p>
        </p:txBody>
      </p:sp>
      <p:sp>
        <p:nvSpPr>
          <p:cNvPr id="76" name="Shape 74"/>
          <p:cNvSpPr/>
          <p:nvPr/>
        </p:nvSpPr>
        <p:spPr>
          <a:xfrm>
            <a:off x="8765096" y="1603400"/>
            <a:ext cx="1604315" cy="304267"/>
          </a:xfrm>
          <a:prstGeom prst="ROUNDED_RECTANGLE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2D314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765096" y="1603400"/>
            <a:ext cx="1604315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工作器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8765096" y="1755534"/>
            <a:ext cx="1604315" cy="152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lease·心跳·退避</a:t>
            </a:r>
            <a:endParaRPr lang="en-US" sz="500" dirty="0"/>
          </a:p>
        </p:txBody>
      </p:sp>
      <p:sp>
        <p:nvSpPr>
          <p:cNvPr id="79" name="Shape 77"/>
          <p:cNvSpPr/>
          <p:nvPr/>
        </p:nvSpPr>
        <p:spPr>
          <a:xfrm>
            <a:off x="7022478" y="1976819"/>
            <a:ext cx="3346933" cy="262776"/>
          </a:xfrm>
          <a:prstGeom prst="ROUNDED_RECTANGLE">
            <a:avLst>
              <a:gd name="adj" fmla="val 139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022478" y="1976819"/>
            <a:ext cx="1659636" cy="12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 SQLite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765096" y="1976819"/>
            <a:ext cx="1604315" cy="12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运行时配置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7022478" y="2308746"/>
            <a:ext cx="3346933" cy="193624"/>
          </a:xfrm>
          <a:prstGeom prst="ROUNDED_RECTANGLE">
            <a:avLst>
              <a:gd name="adj" fmla="val 18890"/>
            </a:avLst>
          </a:prstGeom>
          <a:solidFill>
            <a:srgbClr val="F0F1F3"/>
          </a:solidFill>
          <a:ln w="3810">
            <a:solidFill>
              <a:srgbClr val="4F5D7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22478" y="2308746"/>
            <a:ext cx="3346933" cy="19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7A8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ADR-012/015: 单机单实例 · 无外部MQ/Redis · SQLite WAL</a:t>
            </a:r>
            <a:endParaRPr lang="en-US" sz="500" dirty="0"/>
          </a:p>
        </p:txBody>
      </p:sp>
      <p:sp>
        <p:nvSpPr>
          <p:cNvPr id="84" name="Shape 82"/>
          <p:cNvSpPr/>
          <p:nvPr/>
        </p:nvSpPr>
        <p:spPr>
          <a:xfrm>
            <a:off x="1670152" y="3097073"/>
            <a:ext cx="8851392" cy="553212"/>
          </a:xfrm>
          <a:prstGeom prst="ROUNDED_RECTANGLE">
            <a:avLst>
              <a:gd name="adj" fmla="val 9917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095848" y="3097073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领域层</a:t>
            </a:r>
            <a:endParaRPr lang="en-US" sz="500" dirty="0"/>
          </a:p>
        </p:txBody>
      </p:sp>
      <p:sp>
        <p:nvSpPr>
          <p:cNvPr id="86" name="Shape 84"/>
          <p:cNvSpPr/>
          <p:nvPr/>
        </p:nvSpPr>
        <p:spPr>
          <a:xfrm>
            <a:off x="1753133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53133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2845727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845727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3938321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38321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5030915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030915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6123508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123508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216102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216102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8308696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308696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9401289" y="3207715"/>
            <a:ext cx="1023442" cy="359588"/>
          </a:xfrm>
          <a:prstGeom prst="ROUNDED_RECTANGLE">
            <a:avLst>
              <a:gd name="adj" fmla="val 10172"/>
            </a:avLst>
          </a:prstGeom>
          <a:solidFill>
            <a:srgbClr val="F0F1F3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401289" y="3207715"/>
            <a:ext cx="1023442" cy="3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1670152" y="3760927"/>
            <a:ext cx="8851392" cy="829818"/>
          </a:xfrm>
          <a:prstGeom prst="ROUNDED_RECTANGLE">
            <a:avLst>
              <a:gd name="adj" fmla="val 6612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095848" y="3760927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基础设施层</a:t>
            </a:r>
            <a:endParaRPr lang="en-US" sz="500" dirty="0"/>
          </a:p>
        </p:txBody>
      </p:sp>
      <p:sp>
        <p:nvSpPr>
          <p:cNvPr id="104" name="Shape 102"/>
          <p:cNvSpPr/>
          <p:nvPr/>
        </p:nvSpPr>
        <p:spPr>
          <a:xfrm>
            <a:off x="1753133" y="3899230"/>
            <a:ext cx="1383030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53133" y="3899230"/>
            <a:ext cx="1383030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+ Uvicorn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3219145" y="3899230"/>
            <a:ext cx="1383030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19145" y="3899230"/>
            <a:ext cx="1383030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WAL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685157" y="3899230"/>
            <a:ext cx="1383030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685157" y="3899230"/>
            <a:ext cx="1383030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Kùzu Graph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6151169" y="3899230"/>
            <a:ext cx="1383030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151169" y="3899230"/>
            <a:ext cx="1383030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文件系统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617181" y="3899230"/>
            <a:ext cx="1383030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617181" y="3899230"/>
            <a:ext cx="1383030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API</a:t>
            </a:r>
            <a:endParaRPr lang="en-US" sz="700" dirty="0"/>
          </a:p>
        </p:txBody>
      </p:sp>
      <p:sp>
        <p:nvSpPr>
          <p:cNvPr id="114" name="Shape 112"/>
          <p:cNvSpPr/>
          <p:nvPr/>
        </p:nvSpPr>
        <p:spPr>
          <a:xfrm>
            <a:off x="9083192" y="3899230"/>
            <a:ext cx="1300048" cy="608533"/>
          </a:xfrm>
          <a:prstGeom prst="ROUNDED_RECTANGLE">
            <a:avLst>
              <a:gd name="adj" fmla="val 6011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083192" y="3899230"/>
            <a:ext cx="1300048" cy="608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+ Prometheus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1670152" y="4701388"/>
            <a:ext cx="8851392" cy="553212"/>
          </a:xfrm>
          <a:prstGeom prst="ROUNDED_RECTANGLE">
            <a:avLst>
              <a:gd name="adj" fmla="val 9917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095848" y="4701388"/>
            <a:ext cx="8851392" cy="6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工作空间</a:t>
            </a:r>
            <a:endParaRPr lang="en-US" sz="500" dirty="0"/>
          </a:p>
        </p:txBody>
      </p:sp>
      <p:sp>
        <p:nvSpPr>
          <p:cNvPr id="118" name="Shape 116"/>
          <p:cNvSpPr/>
          <p:nvPr/>
        </p:nvSpPr>
        <p:spPr>
          <a:xfrm>
            <a:off x="1753133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753133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01_raw 原始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26060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26060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02_work 工作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698987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DF0E8"/>
          </a:solidFill>
          <a:ln w="6350">
            <a:solidFill>
              <a:srgbClr val="EB6C3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698987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03_core 核心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6171914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71914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04_serve 服务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7644841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644841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90_control 控制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9117768" y="4839691"/>
            <a:ext cx="1383030" cy="331927"/>
          </a:xfrm>
          <a:prstGeom prst="ROUNDED_RECTANGLE">
            <a:avLst>
              <a:gd name="adj" fmla="val 11019"/>
            </a:avLst>
          </a:prstGeom>
          <a:solidFill>
            <a:srgbClr val="F0F1F3"/>
          </a:solidFill>
          <a:ln w="6350">
            <a:solidFill>
              <a:srgbClr val="4F5D7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117768" y="4839691"/>
            <a:ext cx="138303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99_archive 归档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2223364" y="690601"/>
            <a:ext cx="0" cy="110642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131" name="Shape 129"/>
          <p:cNvSpPr/>
          <p:nvPr/>
        </p:nvSpPr>
        <p:spPr>
          <a:xfrm>
            <a:off x="4297909" y="690601"/>
            <a:ext cx="0" cy="110642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372454" y="690601"/>
            <a:ext cx="0" cy="110642"/>
          </a:xfrm>
          <a:prstGeom prst="LINE">
            <a:avLst/>
          </a:prstGeom>
          <a:noFill/>
          <a:ln w="8890">
            <a:solidFill>
              <a:srgbClr val="2E5AA8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2914879" y="1216152"/>
            <a:ext cx="0" cy="110642"/>
          </a:xfrm>
          <a:prstGeom prst="LINE">
            <a:avLst/>
          </a:prstGeom>
          <a:noFill/>
          <a:ln w="8890">
            <a:solidFill>
              <a:srgbClr val="3D8B5E"/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6095848" y="1216152"/>
            <a:ext cx="0" cy="110642"/>
          </a:xfrm>
          <a:prstGeom prst="LINE">
            <a:avLst/>
          </a:prstGeom>
          <a:noFill/>
          <a:ln w="8890">
            <a:solidFill>
              <a:srgbClr val="3D8B5E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9138514" y="1216152"/>
            <a:ext cx="0" cy="110642"/>
          </a:xfrm>
          <a:prstGeom prst="LINE">
            <a:avLst/>
          </a:prstGeom>
          <a:noFill/>
          <a:ln w="8890">
            <a:solidFill>
              <a:srgbClr val="3D8B5E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2914879" y="2986430"/>
            <a:ext cx="0" cy="110642"/>
          </a:xfrm>
          <a:prstGeom prst="LINE">
            <a:avLst/>
          </a:prstGeom>
          <a:noFill/>
          <a:ln w="889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6095848" y="2986430"/>
            <a:ext cx="0" cy="110642"/>
          </a:xfrm>
          <a:prstGeom prst="LINE">
            <a:avLst/>
          </a:prstGeom>
          <a:noFill/>
          <a:ln w="889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9138514" y="2986430"/>
            <a:ext cx="0" cy="110642"/>
          </a:xfrm>
          <a:prstGeom prst="LINE">
            <a:avLst/>
          </a:prstGeom>
          <a:noFill/>
          <a:ln w="889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2914879" y="3650285"/>
            <a:ext cx="0" cy="110642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6095848" y="3650285"/>
            <a:ext cx="0" cy="110642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141" name="Shape 139"/>
          <p:cNvSpPr/>
          <p:nvPr/>
        </p:nvSpPr>
        <p:spPr>
          <a:xfrm>
            <a:off x="9138514" y="3650285"/>
            <a:ext cx="0" cy="110642"/>
          </a:xfrm>
          <a:prstGeom prst="LINE">
            <a:avLst/>
          </a:prstGeom>
          <a:noFill/>
          <a:ln w="7620">
            <a:solidFill>
              <a:srgbClr val="4F5D75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2914879" y="4590745"/>
            <a:ext cx="0" cy="110642"/>
          </a:xfrm>
          <a:prstGeom prst="LINE">
            <a:avLst/>
          </a:prstGeom>
          <a:noFill/>
          <a:ln w="762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6095848" y="4590745"/>
            <a:ext cx="0" cy="110642"/>
          </a:xfrm>
          <a:prstGeom prst="LINE">
            <a:avLst/>
          </a:prstGeom>
          <a:noFill/>
          <a:ln w="762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1808455" y="5379072"/>
            <a:ext cx="193624" cy="0"/>
          </a:xfrm>
          <a:prstGeom prst="LINE">
            <a:avLst/>
          </a:prstGeom>
          <a:noFill/>
          <a:ln w="9525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145" name="Text 143"/>
          <p:cNvSpPr/>
          <p:nvPr/>
        </p:nvSpPr>
        <p:spPr>
          <a:xfrm>
            <a:off x="2057400" y="5337581"/>
            <a:ext cx="345758" cy="96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主数据流</a:t>
            </a:r>
            <a:endParaRPr lang="en-US" sz="550" dirty="0"/>
          </a:p>
        </p:txBody>
      </p:sp>
      <p:sp>
        <p:nvSpPr>
          <p:cNvPr id="146" name="Shape 144"/>
          <p:cNvSpPr/>
          <p:nvPr/>
        </p:nvSpPr>
        <p:spPr>
          <a:xfrm>
            <a:off x="2499970" y="5379072"/>
            <a:ext cx="193624" cy="0"/>
          </a:xfrm>
          <a:prstGeom prst="LINE">
            <a:avLst/>
          </a:prstGeom>
          <a:noFill/>
          <a:ln w="7620">
            <a:solidFill>
              <a:srgbClr val="4F5D75"/>
            </a:solidFill>
            <a:prstDash val="dash"/>
            <a:tailEnd type="triangle"/>
          </a:ln>
        </p:spPr>
      </p:sp>
      <p:sp>
        <p:nvSpPr>
          <p:cNvPr id="147" name="Text 145"/>
          <p:cNvSpPr/>
          <p:nvPr/>
        </p:nvSpPr>
        <p:spPr>
          <a:xfrm>
            <a:off x="2748915" y="5337581"/>
            <a:ext cx="414909" cy="96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数据源映射</a:t>
            </a:r>
            <a:endParaRPr lang="en-US" sz="550" dirty="0"/>
          </a:p>
        </p:txBody>
      </p:sp>
      <p:sp>
        <p:nvSpPr>
          <p:cNvPr id="148" name="Shape 146"/>
          <p:cNvSpPr/>
          <p:nvPr/>
        </p:nvSpPr>
        <p:spPr>
          <a:xfrm>
            <a:off x="1670152" y="5849303"/>
            <a:ext cx="8851392" cy="110642"/>
          </a:xfrm>
          <a:prstGeom prst="ROUNDED_RECTANGLE">
            <a:avLst>
              <a:gd name="adj" fmla="val 33058"/>
            </a:avLst>
          </a:prstGeom>
          <a:solidFill>
            <a:srgbClr val="FDF0E8"/>
          </a:solidFill>
          <a:ln w="3810">
            <a:solidFill>
              <a:srgbClr val="EB6C36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670152" y="5849303"/>
            <a:ext cx="8851392" cy="110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C′ 混合架构：Python Core 唯一公共入口 · Java Runtime 内部可替换 · GITS 仅通过 Python Core HTTP 调用 · 故障关闭</a:t>
            </a:r>
            <a:endParaRPr lang="en-US" sz="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743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Leibniz-KERT 技术栈架构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159952" y="337533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31514" y="337533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B6C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运行时平台</a:t>
            </a:r>
            <a:endParaRPr lang="en-US" sz="600" dirty="0"/>
          </a:p>
        </p:txBody>
      </p:sp>
      <p:sp>
        <p:nvSpPr>
          <p:cNvPr id="5" name="Shape 3"/>
          <p:cNvSpPr/>
          <p:nvPr/>
        </p:nvSpPr>
        <p:spPr>
          <a:xfrm>
            <a:off x="2875569" y="40909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75569" y="40909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3.12+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664613" y="40909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4613" y="40909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17 GraalVM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453656" y="40909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3656" y="40909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Compose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242700" y="40909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2700" y="40909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 + pyproject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159952" y="1196274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31514" y="1196274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Web 框架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2875569" y="126783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75569" y="126783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0.115+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664613" y="126783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4613" y="126783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Uvicorn+Gunicorn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453656" y="126783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53656" y="126783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v2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242700" y="1267835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2700" y="1267835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159952" y="2055015"/>
            <a:ext cx="7871791" cy="915990"/>
          </a:xfrm>
          <a:prstGeom prst="ROUNDED_RECTANGLE">
            <a:avLst>
              <a:gd name="adj" fmla="val 5990"/>
            </a:avLst>
          </a:prstGeom>
          <a:solidFill>
            <a:srgbClr val="ECECEC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31514" y="2055015"/>
            <a:ext cx="572494" cy="9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D8B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领域引擎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2875569" y="2126576"/>
            <a:ext cx="1645920" cy="772867"/>
          </a:xfrm>
          <a:prstGeom prst="ROUNDED_RECTANGLE">
            <a:avLst>
              <a:gd name="adj" fmla="val 4733"/>
            </a:avLst>
          </a:prstGeom>
          <a:solidFill>
            <a:srgbClr val="FFFFFF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75569" y="2126576"/>
            <a:ext cx="1645920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Kùzu 0.4+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64613" y="2126576"/>
            <a:ext cx="1645920" cy="772867"/>
          </a:xfrm>
          <a:prstGeom prst="ROUNDED_RECTANGLE">
            <a:avLst>
              <a:gd name="adj" fmla="val 4733"/>
            </a:avLst>
          </a:prstGeom>
          <a:solidFill>
            <a:srgbClr val="FFFFFF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4613" y="2126576"/>
            <a:ext cx="1645920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WAL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53656" y="2126576"/>
            <a:ext cx="1645920" cy="772867"/>
          </a:xfrm>
          <a:prstGeom prst="ROUNDED_RECTANGLE">
            <a:avLst>
              <a:gd name="adj" fmla="val 4733"/>
            </a:avLst>
          </a:prstGeom>
          <a:solidFill>
            <a:srgbClr val="FFFFFF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3656" y="2126576"/>
            <a:ext cx="1645920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YAML/MD/JSON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242700" y="2126576"/>
            <a:ext cx="1645920" cy="772867"/>
          </a:xfrm>
          <a:prstGeom prst="ROUNDED_RECTANGLE">
            <a:avLst>
              <a:gd name="adj" fmla="val 4733"/>
            </a:avLst>
          </a:prstGeom>
          <a:solidFill>
            <a:srgbClr val="FFFFFF"/>
          </a:solidFill>
          <a:ln w="5080">
            <a:solidFill>
              <a:srgbClr val="3D8B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42700" y="2126576"/>
            <a:ext cx="1645920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Parquet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159952" y="3056879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31514" y="3056879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AI 与检索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875569" y="3128441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75569" y="3128441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API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4613" y="3128441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4613" y="3128441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SDK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6453656" y="3128441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53656" y="3128441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向量检索(预留)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8242700" y="3128441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42700" y="3128441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正则+模板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159952" y="3915620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31514" y="3915620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L5 存储持久化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2875569" y="398718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75569" y="398718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3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4664613" y="398718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64613" y="398718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Kùzu Graph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6453656" y="398718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53656" y="398718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文件系统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8242700" y="398718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4F5D7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42700" y="398718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Parquet/CSV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2159952" y="4774361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231514" y="4774361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B6C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L6 安全治理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2875569" y="484592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75569" y="484592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SHA-256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664613" y="484592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64613" y="484592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ULID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453656" y="484592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53656" y="484592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 G0~G5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8242700" y="4845922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EB6C3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2700" y="4845922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证据链签名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2159952" y="5633102"/>
            <a:ext cx="7871791" cy="772867"/>
          </a:xfrm>
          <a:prstGeom prst="ROUNDED_RECTANGLE">
            <a:avLst>
              <a:gd name="adj" fmla="val 7099"/>
            </a:avLst>
          </a:prstGeom>
          <a:solidFill>
            <a:srgbClr val="ECECEC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31514" y="5633102"/>
            <a:ext cx="572494" cy="772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L7 可观测 DevOps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2875569" y="5704663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875569" y="5704663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SDK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4664613" y="5704663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64613" y="5704663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453656" y="5704663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53656" y="5704663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结构化日志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8242700" y="5704663"/>
            <a:ext cx="1645920" cy="629743"/>
          </a:xfrm>
          <a:prstGeom prst="ROUNDED_RECTANGLE">
            <a:avLst>
              <a:gd name="adj" fmla="val 5808"/>
            </a:avLst>
          </a:prstGeom>
          <a:solidFill>
            <a:srgbClr val="FFFFFF"/>
          </a:solidFill>
          <a:ln w="5080">
            <a:solidFill>
              <a:srgbClr val="2E5A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242700" y="5704663"/>
            <a:ext cx="1645920" cy="629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CI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2303075" y="6649278"/>
            <a:ext cx="7585544" cy="0"/>
          </a:xfrm>
          <a:prstGeom prst="LINE">
            <a:avLst/>
          </a:prstGeom>
          <a:noFill/>
          <a:ln w="12700">
            <a:solidFill>
              <a:srgbClr val="EB6C36"/>
            </a:solidFill>
            <a:prstDash val="solid"/>
            <a:tailEnd type="triangle"/>
          </a:ln>
        </p:spPr>
      </p:sp>
      <p:sp>
        <p:nvSpPr>
          <p:cNvPr id="74" name="Text 72"/>
          <p:cNvSpPr/>
          <p:nvPr/>
        </p:nvSpPr>
        <p:spPr>
          <a:xfrm>
            <a:off x="2303075" y="6549092"/>
            <a:ext cx="7585544" cy="100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方向：L1 运行时 → L7 可观测（上层依赖下层）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Leibniz-KERT 架构全景（原生形状版）</dc:title>
  <dc:subject>PptxGenJS Presentation</dc:subject>
  <dc:creator>Leibniz-KERT</dc:creator>
  <cp:lastModifiedBy>Leibniz-KERT</cp:lastModifiedBy>
  <cp:revision>1</cp:revision>
  <dcterms:created xsi:type="dcterms:W3CDTF">2026-08-27T16:24:44Z</dcterms:created>
  <dcterms:modified xsi:type="dcterms:W3CDTF">2026-08-27T16:24:44Z</dcterms:modified>
</cp:coreProperties>
</file>